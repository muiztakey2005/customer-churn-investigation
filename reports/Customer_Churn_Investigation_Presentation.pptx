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84632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Churn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DDCF0"/>
                </a:solidFill>
              </a:defRPr>
            </a:pPr>
            <a:r>
              <a:t>Data Science Internship — Arrowstack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Project 1 • Customer Retention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66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Python • Pandas • NumPy • Matplotlib • Seaborn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0175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6842D"/>
                </a:solidFill>
              </a:defRPr>
            </a:pPr>
            <a:r>
              <a:t>26.54%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Overall observed churn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554480"/>
            <a:ext cx="30175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554480"/>
            <a:ext cx="73152" cy="132588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19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5B9C"/>
                </a:solidFill>
              </a:defRPr>
            </a:pPr>
            <a:r>
              <a:t>7,043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677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Customers analyzed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554480"/>
            <a:ext cx="30175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554480"/>
            <a:ext cx="73152" cy="1325880"/>
          </a:xfrm>
          <a:prstGeom prst="rect">
            <a:avLst/>
          </a:prstGeom>
          <a:solidFill>
            <a:srgbClr val="2C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19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825C"/>
                </a:solidFill>
              </a:defRPr>
            </a:pPr>
            <a: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2677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Dataset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Investigate customer characteristics associated with churn.</a:t>
            </a:r>
          </a:p>
          <a:p>
            <a:pPr>
              <a:spcAft>
                <a:spcPts val="8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Identify customer segments with elevated observed churn.</a:t>
            </a:r>
          </a:p>
          <a:p>
            <a:pPr>
              <a:spcAft>
                <a:spcPts val="800"/>
              </a:spcAft>
              <a:defRPr sz="1700">
                <a:solidFill>
                  <a:srgbClr val="28303C"/>
                </a:solidFill>
                <a:latin typeface="Aptos"/>
              </a:defRPr>
            </a:pPr>
            <a:r>
              <a:t>Translate evidence into retention opportunities for further investigation.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246120"/>
            <a:ext cx="3291840" cy="2057400"/>
          </a:xfrm>
          <a:prstGeom prst="roundRect">
            <a:avLst/>
          </a:prstGeom>
          <a:solidFill>
            <a:srgbClr val="E8F0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493008"/>
            <a:ext cx="2743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3E"/>
                </a:solidFill>
              </a:defRPr>
            </a:pPr>
            <a:r>
              <a:t>Primary Stakeholder</a:t>
            </a:r>
          </a:p>
          <a:p>
            <a:pPr>
              <a:defRPr sz="1700" b="1">
                <a:solidFill>
                  <a:srgbClr val="28303C"/>
                </a:solidFill>
              </a:defRPr>
            </a:pPr>
            <a:r>
              <a:t>Customer Retention /</a:t>
            </a:r>
          </a:p>
          <a:p>
            <a:pPr>
              <a:defRPr sz="1700" b="1">
                <a:solidFill>
                  <a:srgbClr val="28303C"/>
                </a:solidFill>
              </a:defRPr>
            </a:pPr>
            <a:r>
              <a:t>Customer Success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Project Scope &amp; Success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Analyze overall customer churn.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Perform data-quality checks and cleaning.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Explore churn across key customer characteristics.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Segment customers using tenure and contract type.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Identify a combined high-risk segment.</a:t>
            </a:r>
          </a:p>
          <a:p>
            <a:pPr>
              <a:spcAft>
                <a:spcPts val="800"/>
              </a:spcAft>
              <a:defRPr sz="1500">
                <a:solidFill>
                  <a:srgbClr val="28303C"/>
                </a:solidFill>
                <a:latin typeface="Aptos"/>
              </a:defRPr>
            </a:pPr>
            <a:r>
              <a:t>Propose evidence-based retention opportunities.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6842D"/>
                </a:solidFill>
              </a:defRPr>
            </a:pPr>
            <a:r>
              <a:t>OUT OF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Causal inference</a:t>
            </a:r>
          </a:p>
          <a:p>
            <a:pPr>
              <a:spcAft>
                <a:spcPts val="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Production churn prediction</a:t>
            </a:r>
          </a:p>
          <a:p>
            <a:pPr>
              <a:spcAft>
                <a:spcPts val="800"/>
              </a:spcAft>
              <a:defRPr sz="1600">
                <a:solidFill>
                  <a:srgbClr val="28303C"/>
                </a:solidFill>
                <a:latin typeface="Aptos"/>
              </a:defRPr>
            </a:pPr>
            <a:r>
              <a:t>Financial ROI estimation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825C"/>
                </a:solidFill>
              </a:defRPr>
            </a:pPr>
            <a: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776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Clean and validated dataset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Business-question-driven EDA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Interpretable customer segments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Evidence-supported insights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Documented limitations and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Dataset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t>IBM Telco Customer Churn public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603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23444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5B9C"/>
                </a:solidFill>
              </a:defRPr>
            </a:pPr>
            <a:r>
              <a:t>7,043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08760"/>
            <a:ext cx="25603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08760"/>
            <a:ext cx="73152" cy="123444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7335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5B9C"/>
                </a:solidFill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2199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6032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73152" cy="1234440"/>
          </a:xfrm>
          <a:prstGeom prst="rect">
            <a:avLst/>
          </a:prstGeom>
          <a:solidFill>
            <a:srgbClr val="2C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7335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825C"/>
                </a:solidFill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21991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Missing after cleaning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08760"/>
            <a:ext cx="228600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73152" cy="1234440"/>
          </a:xfrm>
          <a:prstGeom prst="rect">
            <a:avLst/>
          </a:prstGeom>
          <a:solidFill>
            <a:srgbClr val="2C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673351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825C"/>
                </a:solidFill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21991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Duplicate rows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306324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check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Duplicate customer IDs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TotalCharges type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float64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Blank TotalCharges investigated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Customers retained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7,043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400800" y="3063240"/>
            <a:ext cx="466344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310128"/>
            <a:ext cx="41148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63E"/>
                </a:solidFill>
              </a:defRPr>
            </a:pPr>
            <a:r>
              <a:t>Cleaning decision</a:t>
            </a:r>
          </a:p>
          <a:p>
            <a:pPr>
              <a:defRPr sz="1300">
                <a:solidFill>
                  <a:srgbClr val="28303C"/>
                </a:solidFill>
              </a:defRPr>
            </a:pPr>
            <a:r>
              <a:t>All 11 blank TotalCharges records had tenure = 0, valid MonthlyCharges and Churn = No.</a:t>
            </a:r>
          </a:p>
          <a:p>
            <a:pPr>
              <a:defRPr sz="1300">
                <a:solidFill>
                  <a:srgbClr val="28303C"/>
                </a:solidFill>
              </a:defRPr>
            </a:pPr>
            <a:r>
              <a:t>They were set to 0 based on the observed data pattern.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Overall Churn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834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32588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6842D"/>
                </a:solidFill>
              </a:defRPr>
            </a:pPr>
            <a:r>
              <a:t>1,869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Customers churned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554480"/>
            <a:ext cx="2834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94760" y="1554480"/>
            <a:ext cx="73152" cy="1325880"/>
          </a:xfrm>
          <a:prstGeom prst="rect">
            <a:avLst/>
          </a:prstGeom>
          <a:solidFill>
            <a:srgbClr val="2C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71907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C825C"/>
                </a:solidFill>
              </a:defRPr>
            </a:pPr>
            <a:r>
              <a:t>5,174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267712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Customers retained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554480"/>
            <a:ext cx="28346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554480"/>
            <a:ext cx="73152" cy="132588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719072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6842D"/>
                </a:solidFill>
              </a:defRPr>
            </a:pPr>
            <a:r>
              <a:t>26.54%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267712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Churn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94760"/>
            <a:ext cx="7254854" cy="594360"/>
          </a:xfrm>
          <a:prstGeom prst="rect">
            <a:avLst/>
          </a:prstGeom>
          <a:solidFill>
            <a:srgbClr val="2C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9254" y="3794760"/>
            <a:ext cx="2620665" cy="59436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825C"/>
                </a:solidFill>
              </a:defRPr>
            </a:pPr>
            <a:r>
              <a:t>73.46%  No Churn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617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6842D"/>
                </a:solidFill>
              </a:defRPr>
            </a:pPr>
            <a:r>
              <a:t>26.54% 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63E"/>
                </a:solidFill>
              </a:defRPr>
            </a:pPr>
            <a:r>
              <a:t>Key observation: approximately 1 in 4 customers in the analyzed dataset churned.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Key Churn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3291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Tenure group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0–12 months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47.44%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13–24 months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28.71%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25–48 months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20.39%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49–72 months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9.51%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43400" y="1508760"/>
          <a:ext cx="32918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6862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Month-to-month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42.71%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One year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11.27%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Two year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2.83%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01000" y="1508760"/>
          <a:ext cx="34747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</a:tblGrid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Non-churned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Churned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Mean tenure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37.57 mo.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17.98 mo.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62484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Mean monthly charges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$61.27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$74.44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0690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Churn is concentrated among shorter-tenure customers.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Month-to-month customers have substantially higher observed churn than longer contracts.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Churned customers have higher average monthly charges in this dataset.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Internet service and payment method were also investigated as potential segmentation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t>Tenure group + contract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6400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Churn rate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0–12 + Month-to-month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1,994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51.35%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13–24 + Month-to-month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737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37.72%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25–48 + Month-to-month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802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32.92%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49–72 + Two year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1,263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3.33%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25–48 + Two year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274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2.19%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508760"/>
            <a:ext cx="3657600" cy="3291840"/>
          </a:xfrm>
          <a:prstGeom prst="roundRect">
            <a:avLst/>
          </a:prstGeom>
          <a:solidFill>
            <a:srgbClr val="E8F0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2880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Shows churn differences across interpretable customer groups.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Highlights early-tenure, month-to-month customers as an important area for investigation.</a:t>
            </a:r>
          </a:p>
          <a:p>
            <a:pPr>
              <a:spcAft>
                <a:spcPts val="800"/>
              </a:spcAft>
              <a:defRPr sz="1300">
                <a:solidFill>
                  <a:srgbClr val="28303C"/>
                </a:solidFill>
                <a:latin typeface="Aptos"/>
              </a:defRPr>
            </a:pPr>
            <a:r>
              <a:t>Supports targeted rather than one-size-fits-all retention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6842D"/>
                </a:solidFill>
              </a:defRPr>
            </a:pPr>
            <a:r>
              <a:t>Interpretation: segments describe observed associations; they do not establish causal drivers.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Combined High-Risk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29260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73152" cy="137160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B5B9C"/>
                </a:solidFill>
              </a:defRPr>
            </a:pPr>
            <a:r>
              <a:t>954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Customers in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554480"/>
            <a:ext cx="29260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554480"/>
            <a:ext cx="73152" cy="137160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71907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6842D"/>
                </a:solidFill>
              </a:defRPr>
            </a:pPr>
            <a:r>
              <a:t>602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6771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Customers churned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554480"/>
            <a:ext cx="29260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554480"/>
            <a:ext cx="73152" cy="1371600"/>
          </a:xfrm>
          <a:prstGeom prst="rect">
            <a:avLst/>
          </a:prstGeom>
          <a:solidFill>
            <a:srgbClr val="D6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719072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6842D"/>
                </a:solidFill>
              </a:defRPr>
            </a:pPr>
            <a:r>
              <a:t>63.10%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267712"/>
            <a:ext cx="2560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8303C"/>
                </a:solidFill>
              </a:defRPr>
            </a:pPr>
            <a:r>
              <a:t>Observed churn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657600"/>
            <a:ext cx="2971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2B5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8303C"/>
                </a:solidFill>
              </a:defRPr>
            </a:pPr>
            <a:r>
              <a:t>0–12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657600"/>
            <a:ext cx="2971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8303C"/>
                </a:solidFill>
              </a:defRPr>
            </a:pPr>
            <a:r>
              <a:t>Month-to-month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657600"/>
            <a:ext cx="2971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2C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8303C"/>
                </a:solidFill>
              </a:defRPr>
            </a:pPr>
            <a:r>
              <a:t>Electronic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10241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63E"/>
                </a:solidFill>
              </a:defRPr>
            </a:pPr>
            <a:r>
              <a:t>This combination shows particularly high observed churn in the analyzed dataset.</a:t>
            </a:r>
          </a:p>
          <a:p>
            <a:pPr>
              <a:defRPr sz="1300">
                <a:solidFill>
                  <a:srgbClr val="646E7D"/>
                </a:solidFill>
              </a:defRPr>
            </a:pPr>
            <a:r>
              <a:t>It is an association, not evidence that these characteristics independently cause churn.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Retention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270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6934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pattern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Potential action</a:t>
                      </a:r>
                    </a:p>
                  </a:txBody>
                  <a:tcPr marL="64008" marR="36576" anchor="ctr">
                    <a:solidFill>
                      <a:srgbClr val="18263E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Early-tenure customers show high churn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Early onboarding and engagement program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Month-to-month customers show higher churn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Explore appropriate longer-term contract incentives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Electronic-check customers show high churn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Investigate payment experience and easier automatic-payment options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Fiber-optic customers show elevated churn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Investigate pricing, service experience and support factors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Combined high-risk segment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303C"/>
                          </a:solidFill>
                          <a:latin typeface="Aptos"/>
                        </a:defRPr>
                      </a:pPr>
                      <a:r>
                        <a:t>Targeted retention outreach and further investigation</a:t>
                      </a:r>
                    </a:p>
                  </a:txBody>
                  <a:tcPr marL="64008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6842D"/>
                </a:solidFill>
              </a:defRPr>
            </a:pPr>
            <a:r>
              <a:t>These actions are hypotheses for retention testing, not proven causal interventions.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3E"/>
                </a:solidFill>
                <a:latin typeface="Aptos Display"/>
              </a:defRPr>
            </a:pPr>
            <a: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0972800" cy="22860"/>
          </a:xfrm>
          <a:prstGeom prst="rect">
            <a:avLst/>
          </a:prstGeom>
          <a:solidFill>
            <a:srgbClr val="2B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Associations do not establish causality.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The dataset may not represent every customer population.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The analysis is descriptive; no predictive model was developed.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Satisfaction, support experience and competitor factors are unavailable.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Financial impact of churn and retention actions was not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Collect satisfaction and support-interaction data.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Investigate reasons for early-tenure churn.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Test retention interventions using controlled experiments.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Develop a predictive churn model.</a:t>
            </a:r>
          </a:p>
          <a:p>
            <a:pPr>
              <a:spcAft>
                <a:spcPts val="800"/>
              </a:spcAft>
              <a:defRPr sz="1400">
                <a:solidFill>
                  <a:srgbClr val="28303C"/>
                </a:solidFill>
                <a:latin typeface="Aptos"/>
              </a:defRPr>
            </a:pPr>
            <a:r>
              <a:t>Estimate financial impact and monitor churn over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10241280" cy="777240"/>
          </a:xfrm>
          <a:prstGeom prst="roundRect">
            <a:avLst/>
          </a:prstGeom>
          <a:solidFill>
            <a:srgbClr val="18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 takeaway: identify where churn is concentrated, then test targeted retention ideas with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Investigation</dc:title>
  <dc:subject>Arrowstack Data Science Internship — Project 1</dc:subject>
  <dc:creator>Muiz Takey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